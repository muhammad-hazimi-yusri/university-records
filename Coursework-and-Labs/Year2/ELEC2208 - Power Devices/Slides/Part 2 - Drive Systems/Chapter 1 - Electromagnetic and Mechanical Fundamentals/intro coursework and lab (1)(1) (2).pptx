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7" r:id="rId5"/>
    <p:sldId id="284" r:id="rId6"/>
    <p:sldId id="306" r:id="rId7"/>
    <p:sldId id="327" r:id="rId8"/>
    <p:sldId id="328" r:id="rId9"/>
    <p:sldId id="322" r:id="rId10"/>
    <p:sldId id="323" r:id="rId11"/>
    <p:sldId id="325" r:id="rId12"/>
    <p:sldId id="324" r:id="rId13"/>
    <p:sldId id="32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2B751-4961-42AC-A38D-6F606338F399}" v="145" dt="2022-03-23T14:53:33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5A606-0341-4FC6-8539-F89771F4456E}" type="datetimeFigureOut">
              <a:rPr lang="en-GB" smtClean="0"/>
              <a:t>16/03/2023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EB952-2F21-495B-ADE7-BED3CE720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04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302026"/>
            <a:ext cx="10515597" cy="689114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331" y="2553749"/>
            <a:ext cx="9144000" cy="1063694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2E454-BB3E-4CF4-BBDA-82FF47A90676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78137" y="6356351"/>
            <a:ext cx="4200387" cy="365125"/>
          </a:xfrm>
        </p:spPr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sz="half" idx="13"/>
          </p:nvPr>
        </p:nvSpPr>
        <p:spPr>
          <a:xfrm>
            <a:off x="1506331" y="4180053"/>
            <a:ext cx="9161669" cy="1698234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473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67" y="1046929"/>
            <a:ext cx="11599333" cy="51300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B6B9666-5B6E-477D-82D9-BFD18F538941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777461" y="365818"/>
            <a:ext cx="10576339" cy="56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45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8B95F-6E6B-4CA6-86A2-0EAD50427E9A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77461" y="365818"/>
            <a:ext cx="10576339" cy="56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62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F9D4-E3D8-4DDB-973A-C9ADCCEF4C02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64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4000" y="1070285"/>
            <a:ext cx="5765800" cy="510667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070285"/>
            <a:ext cx="5748867" cy="510667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2FD20-F45E-406C-8E4A-483D2E87E05D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777461" y="365818"/>
            <a:ext cx="10576339" cy="56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33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989" y="1076516"/>
            <a:ext cx="5703843" cy="54908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922" y="1787716"/>
            <a:ext cx="5703843" cy="440194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76516"/>
            <a:ext cx="5731933" cy="54908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1787716"/>
            <a:ext cx="5731933" cy="440194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3391-D3CA-41B2-A120-BDB1F51C5618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777461" y="365818"/>
            <a:ext cx="10576339" cy="56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19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1" y="986536"/>
            <a:ext cx="4414839" cy="867664"/>
          </a:xfr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987427"/>
            <a:ext cx="6704012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5601" y="1955800"/>
            <a:ext cx="4416425" cy="3913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A6F0-7BB4-4BBE-99FC-544E20670BB9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2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461" y="365818"/>
            <a:ext cx="10576339" cy="56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046929"/>
            <a:ext cx="11633200" cy="5130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700" y="6366953"/>
            <a:ext cx="11584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BrowalliaUPC" panose="020B0604020202020204" pitchFamily="34" charset="-34"/>
              </a:defRPr>
            </a:lvl1pPr>
          </a:lstStyle>
          <a:p>
            <a:fld id="{E2D37A8C-C8E8-41B2-B3F9-71246F0226D8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8247" y="6351780"/>
            <a:ext cx="48574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BrowalliaUPC" panose="020B0604020202020204" pitchFamily="34" charset="-34"/>
              </a:defRPr>
            </a:lvl1pPr>
          </a:lstStyle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9110" y="6366953"/>
            <a:ext cx="11407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BrowalliaUPC" panose="020B0604020202020204" pitchFamily="34" charset="-34"/>
              </a:defRPr>
            </a:lvl1pPr>
          </a:lstStyle>
          <a:p>
            <a:fld id="{F50D8BCC-FC1C-4562-83BF-4D7E85CB2F3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66700" y="927656"/>
            <a:ext cx="11633200" cy="0"/>
          </a:xfrm>
          <a:prstGeom prst="line">
            <a:avLst/>
          </a:prstGeom>
          <a:ln w="38100">
            <a:solidFill>
              <a:srgbClr val="005E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14301" y="6292148"/>
            <a:ext cx="11980153" cy="0"/>
          </a:xfrm>
          <a:prstGeom prst="line">
            <a:avLst/>
          </a:prstGeom>
          <a:ln w="3175">
            <a:solidFill>
              <a:srgbClr val="005E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154" name="Picture 2" descr="ecs_logo.png (250×75)"/>
          <p:cNvPicPr>
            <a:picLocks noChangeAspect="1" noChangeArrowheads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82"/>
          <a:stretch/>
        </p:blipFill>
        <p:spPr bwMode="auto">
          <a:xfrm>
            <a:off x="145381" y="88893"/>
            <a:ext cx="1965583" cy="33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 userDrawn="1"/>
        </p:nvSpPr>
        <p:spPr>
          <a:xfrm>
            <a:off x="9561893" y="-49644"/>
            <a:ext cx="2630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4789A7"/>
                </a:solidFill>
                <a:latin typeface="Calibri Light" panose="020F0302020204030204"/>
                <a:cs typeface="BrowalliaUPC" panose="020B0604020202020204" pitchFamily="34" charset="-34"/>
              </a:rPr>
              <a:t>Electronics &amp; Comp. Science</a:t>
            </a:r>
          </a:p>
        </p:txBody>
      </p:sp>
    </p:spTree>
    <p:extLst>
      <p:ext uri="{BB962C8B-B14F-4D97-AF65-F5344CB8AC3E}">
        <p14:creationId xmlns:p14="http://schemas.microsoft.com/office/powerpoint/2010/main" val="7264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xIORHY8Ii90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ELEC2208:</a:t>
            </a:r>
            <a:br>
              <a:rPr lang="en-US"/>
            </a:br>
            <a:r>
              <a:rPr lang="en-US"/>
              <a:t>Power Electronics and </a:t>
            </a:r>
            <a:r>
              <a:rPr lang="en-US" b="1" u="sng"/>
              <a:t>Motor Drives</a:t>
            </a:r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Coursework/Lab intro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3464-126E-4F7D-B4A6-0975969377D3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51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9666-5B6E-477D-82D9-BFD18F538941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Test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1EAE6-9D45-4912-A626-8E15557CC8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811" y="1426527"/>
            <a:ext cx="4933315" cy="30905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79F49F-8D2C-46DD-A9C9-7F58391DAEB3}"/>
              </a:ext>
            </a:extLst>
          </p:cNvPr>
          <p:cNvSpPr/>
          <p:nvPr/>
        </p:nvSpPr>
        <p:spPr>
          <a:xfrm>
            <a:off x="5797731" y="1370787"/>
            <a:ext cx="6096000" cy="56457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NimbusRomNo9L-Regu"/>
              </a:rPr>
              <a:t>The purpose of this request is to size the system and select suitable components for a </a:t>
            </a:r>
            <a:r>
              <a:rPr lang="en-GB" err="1">
                <a:latin typeface="Calibri" panose="020F0502020204030204" pitchFamily="34" charset="0"/>
                <a:ea typeface="Calibri" panose="020F0502020204030204" pitchFamily="34" charset="0"/>
                <a:cs typeface="NimbusRomNo9L-Regu"/>
              </a:rPr>
              <a:t>ballscrew</a:t>
            </a:r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NimbusRomNo9L-Regu"/>
              </a:rPr>
              <a:t> based drive system for the application.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en-GB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GB"/>
              <a:t>The test article is filled with one of </a:t>
            </a:r>
            <a:r>
              <a:rPr lang="en-GB" b="1"/>
              <a:t>three liquids</a:t>
            </a:r>
            <a:r>
              <a:rPr lang="en-GB"/>
              <a:t>, 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/>
              <a:t>methyl alcohol ( (ρ =785 kgm</a:t>
            </a:r>
            <a:r>
              <a:rPr lang="en-GB" baseline="30000"/>
              <a:t>-3</a:t>
            </a:r>
            <a:r>
              <a:rPr lang="en-GB"/>
              <a:t>), 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/>
              <a:t>pure water (ρ = 1000 kgm</a:t>
            </a:r>
            <a:r>
              <a:rPr lang="en-GB" baseline="30000"/>
              <a:t>-3</a:t>
            </a:r>
            <a:r>
              <a:rPr lang="en-GB"/>
              <a:t>) , 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/>
              <a:t>1,2,4-Trichlorobenzene (ρ = 1454kgm</a:t>
            </a:r>
            <a:r>
              <a:rPr lang="en-GB" baseline="30000"/>
              <a:t>-3</a:t>
            </a:r>
            <a:r>
              <a:rPr lang="en-GB"/>
              <a:t>).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/>
              <a:t>The system’s maximum speed is such that the load can move a </a:t>
            </a:r>
            <a:r>
              <a:rPr lang="en-GB" u="sng"/>
              <a:t>predefined distance </a:t>
            </a:r>
            <a:r>
              <a:rPr lang="en-GB"/>
              <a:t>in a </a:t>
            </a:r>
            <a:r>
              <a:rPr lang="en-GB" u="sng"/>
              <a:t>predefined time</a:t>
            </a:r>
            <a:r>
              <a:rPr lang="en-GB"/>
              <a:t>, 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/>
              <a:t>The motion profile is a cubic polynomial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/>
              <a:t>After completion of a move, the drive reverses. The motion profiles being identical - this motion continues for a considerable period of time.</a:t>
            </a:r>
          </a:p>
          <a:p>
            <a:pPr marL="28575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algn="just">
              <a:lnSpc>
                <a:spcPct val="107000"/>
              </a:lnSpc>
            </a:pPr>
            <a:endParaRPr lang="en-GB"/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en-GB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7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9666-5B6E-477D-82D9-BFD18F538941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Test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1EAE6-9D45-4912-A626-8E15557CC8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811" y="1426527"/>
            <a:ext cx="4933315" cy="30905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79F49F-8D2C-46DD-A9C9-7F58391DAEB3}"/>
              </a:ext>
            </a:extLst>
          </p:cNvPr>
          <p:cNvSpPr/>
          <p:nvPr/>
        </p:nvSpPr>
        <p:spPr>
          <a:xfrm>
            <a:off x="5682343" y="1370787"/>
            <a:ext cx="62113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No gear box is to be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The carriage structure is manufactured from aluminium (ρ = 2700 kgm</a:t>
            </a:r>
            <a:r>
              <a:rPr lang="en-GB" baseline="30000"/>
              <a:t>-3</a:t>
            </a:r>
            <a:r>
              <a:rPr lang="en-GB"/>
              <a:t>) and the test article from nylon, (ρ = 1140 kgm</a:t>
            </a:r>
            <a:r>
              <a:rPr lang="en-GB" baseline="30000"/>
              <a:t>-3</a:t>
            </a:r>
            <a:r>
              <a:rPr lang="en-GB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The friction coefficient (µ) between the carriage and the slideway will not exceed 0.1, due to the provision of a lubrication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A linear positional measurement is required. The required resolution is 10</a:t>
            </a:r>
            <a:r>
              <a:rPr lang="en-GB" baseline="30000"/>
              <a:t>-5</a:t>
            </a:r>
            <a:r>
              <a:rPr lang="en-GB"/>
              <a:t>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The ball screw is manufactured from steel (ρ = 7850 kgm</a:t>
            </a:r>
            <a:r>
              <a:rPr lang="en-GB" baseline="30000"/>
              <a:t>-3</a:t>
            </a:r>
            <a:r>
              <a:rPr lang="en-GB"/>
              <a:t>) and has a radius of 15mm, length of 1.6m and efficiency of 85%. You can assume that the nut and the associated hardware to connect the nut to the carriage has a total mass of 0.5kg.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614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9022B-3DE1-29B6-112A-61F086B0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9666-5B6E-477D-82D9-BFD18F538941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BE0A0-3B1C-95F7-77D8-7DB9A02C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58DD07-6EF7-ADB4-04A8-583625E0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8E0B1-0EB4-301F-8990-7D39CBF649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041" t="23155" r="17908" b="8712"/>
          <a:stretch/>
        </p:blipFill>
        <p:spPr>
          <a:xfrm>
            <a:off x="327258" y="1144554"/>
            <a:ext cx="3380105" cy="4807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D69D5-5F3D-37A2-8D77-0F33FD1031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419" t="23887" r="18112" b="16756"/>
          <a:stretch/>
        </p:blipFill>
        <p:spPr>
          <a:xfrm>
            <a:off x="4273418" y="1555056"/>
            <a:ext cx="3380105" cy="4547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988EC7-2AD9-CC54-D1C2-4FFC496AC386}"/>
              </a:ext>
            </a:extLst>
          </p:cNvPr>
          <p:cNvSpPr txBox="1"/>
          <p:nvPr/>
        </p:nvSpPr>
        <p:spPr>
          <a:xfrm>
            <a:off x="8484639" y="131460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Variables given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 (sec)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Distance (mm)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Liquid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Lead (mm)</a:t>
            </a:r>
          </a:p>
        </p:txBody>
      </p:sp>
    </p:spTree>
    <p:extLst>
      <p:ext uri="{BB962C8B-B14F-4D97-AF65-F5344CB8AC3E}">
        <p14:creationId xmlns:p14="http://schemas.microsoft.com/office/powerpoint/2010/main" val="309067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E0AFDF-06E4-A5DB-AE96-EF054FA90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2838407"/>
            <a:ext cx="11599333" cy="5130035"/>
          </a:xfrm>
        </p:spPr>
        <p:txBody>
          <a:bodyPr/>
          <a:lstStyle/>
          <a:p>
            <a:r>
              <a:rPr lang="en-US" dirty="0"/>
              <a:t>Sizing the application</a:t>
            </a:r>
            <a:endParaRPr lang="en-GB" dirty="0"/>
          </a:p>
          <a:p>
            <a:pPr lvl="1"/>
            <a:r>
              <a:rPr lang="en-GB" dirty="0"/>
              <a:t>Detailed calculations must be provided for each answer</a:t>
            </a:r>
          </a:p>
          <a:p>
            <a:pPr lvl="1"/>
            <a:r>
              <a:rPr lang="en-GB" dirty="0"/>
              <a:t>Explanation justifying the choice of motor must be given</a:t>
            </a:r>
          </a:p>
          <a:p>
            <a:pPr marL="342900" lvl="1" indent="0">
              <a:buNone/>
            </a:pPr>
            <a:endParaRPr lang="en-GB" dirty="0"/>
          </a:p>
          <a:p>
            <a:r>
              <a:rPr lang="en-GB" dirty="0"/>
              <a:t>Diagrams</a:t>
            </a:r>
          </a:p>
          <a:p>
            <a:pPr lvl="1"/>
            <a:r>
              <a:rPr lang="en-GB" dirty="0"/>
              <a:t>Details(drawings + use of the component in the system) must be provided for each components in the system</a:t>
            </a:r>
          </a:p>
          <a:p>
            <a:pPr lvl="1"/>
            <a:r>
              <a:rPr lang="en-GB" dirty="0"/>
              <a:t>Diagram of the full system outlining each of the components used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B9F6F-55DE-5B25-D144-9733FF08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9666-5B6E-477D-82D9-BFD18F538941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DC1BE-62F4-5A3C-8FD0-8D46F845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86BA2C-0F89-E9C3-E5D8-4EA6E682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811D0-36AD-E415-318A-29EF111C6350}"/>
              </a:ext>
            </a:extLst>
          </p:cNvPr>
          <p:cNvSpPr txBox="1"/>
          <p:nvPr/>
        </p:nvSpPr>
        <p:spPr>
          <a:xfrm>
            <a:off x="824289" y="1199457"/>
            <a:ext cx="107394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assignment is worth 15% of the module and will be assessed as follows:</a:t>
            </a:r>
          </a:p>
          <a:p>
            <a:r>
              <a:rPr lang="en-US" dirty="0"/>
              <a:t>• Sizing the application. 70 Marks </a:t>
            </a:r>
          </a:p>
          <a:p>
            <a:r>
              <a:rPr lang="en-US" dirty="0"/>
              <a:t>• Indicative detailed diagram and components, including provision of limit and datum switches. 30 Mark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426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ELEC2208:</a:t>
            </a:r>
            <a:br>
              <a:rPr lang="en-US"/>
            </a:br>
            <a:r>
              <a:rPr lang="en-US"/>
              <a:t>Power Electronics and </a:t>
            </a:r>
            <a:r>
              <a:rPr lang="en-US" b="1" u="sng"/>
              <a:t>Motor Drives</a:t>
            </a:r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EE75 lab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3464-126E-4F7D-B4A6-0975969377D3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70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3464-126E-4F7D-B4A6-0975969377D3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63B0F3-4A4D-4DBA-AF5F-B132613F4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67" y="1225420"/>
            <a:ext cx="3421470" cy="253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110CD7-D302-4A7E-BDD9-D675132ADD55}"/>
              </a:ext>
            </a:extLst>
          </p:cNvPr>
          <p:cNvSpPr txBox="1"/>
          <p:nvPr/>
        </p:nvSpPr>
        <p:spPr>
          <a:xfrm>
            <a:off x="4589669" y="1305341"/>
            <a:ext cx="69118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buFont typeface="+mj-lt"/>
              <a:buAutoNum type="arabicPeriod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Aims, Learning Outcomes and Outline </a:t>
            </a:r>
          </a:p>
          <a:p>
            <a:pPr algn="just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coursework based on the laboratory exercise aims to: 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lvl="1"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Develop the skills required to integrate power electronics with a microcontroller </a:t>
            </a:r>
          </a:p>
          <a:p>
            <a:pPr lvl="1"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Demonstrate the operating principle of a BLDC motor and its drive system </a:t>
            </a:r>
          </a:p>
          <a:p>
            <a:pPr lvl="1" algn="just" fontAlgn="base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Having successfully completed this coursework, you will be able to: </a:t>
            </a:r>
          </a:p>
          <a:p>
            <a:pPr lvl="1"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 a fixed frequency three-phase inverter </a:t>
            </a:r>
          </a:p>
          <a:p>
            <a:pPr lvl="1"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Construct the commutation tables for a BLDC </a:t>
            </a:r>
          </a:p>
          <a:p>
            <a:pPr lvl="1"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Control a BLDC motor  </a:t>
            </a:r>
          </a:p>
          <a:p>
            <a:pPr algn="just" rtl="0" fontAlgn="base"/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just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exercise introduces an electric drive system for BLDC motor.</a:t>
            </a:r>
          </a:p>
          <a:p>
            <a:pPr algn="just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switching scheme of the drive system will be investigated through the construction commutation tables and associated PWM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signalling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 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8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3464-126E-4F7D-B4A6-0975969377D3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4" name="Online Media 3" title="Trapezoidal commutation">
            <a:hlinkClick r:id="" action="ppaction://media"/>
            <a:extLst>
              <a:ext uri="{FF2B5EF4-FFF2-40B4-BE49-F238E27FC236}">
                <a16:creationId xmlns:a16="http://schemas.microsoft.com/office/drawing/2014/main" id="{DEA99586-22D2-419C-8B16-40DB0BD7DDD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91004" y="1369671"/>
            <a:ext cx="8244079" cy="465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3464-126E-4F7D-B4A6-0975969377D3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05D5E4-8649-457E-9B67-586D00FD4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518" y="1229773"/>
            <a:ext cx="3997292" cy="439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17EE8E5-711A-46FA-BEFC-8D13E2065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38" y="1364222"/>
            <a:ext cx="6601143" cy="416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10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50000"/>
                    <a:lumOff val="50000"/>
                  </a:prstClr>
                </a:solidFill>
              </a:rPr>
              <a:t>ELEC2208 – Power Electronics and Drives</a:t>
            </a: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3464-126E-4F7D-B4A6-0975969377D3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3/16/2023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0DCCC-7D65-4773-B70D-FD3E1103111A}"/>
              </a:ext>
            </a:extLst>
          </p:cNvPr>
          <p:cNvSpPr txBox="1"/>
          <p:nvPr/>
        </p:nvSpPr>
        <p:spPr>
          <a:xfrm>
            <a:off x="789992" y="1474237"/>
            <a:ext cx="102279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/>
              <a:t>LAB output </a:t>
            </a:r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Background questions  as preparation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Code is given to you to drive </a:t>
            </a:r>
            <a:r>
              <a:rPr lang="en-GB" dirty="0" err="1"/>
              <a:t>Mosfets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ompute commutation tables for both clockwise (CW) and counter-clockwise (CCW)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WordVisi_MSFontService"/>
              </a:rPr>
              <a:t>Sketch the PWM signals of BLDC motor in CW and CCW directions with respect to the Hall sensor signals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51065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e8bd6ec1-394e-4163-bba1-14a10f2ce222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7AE97A4D43F40AE9F2A438CEE8608" ma:contentTypeVersion="11" ma:contentTypeDescription="Create a new document." ma:contentTypeScope="" ma:versionID="7ee0845ce5acede8ff926550c605f053">
  <xsd:schema xmlns:xsd="http://www.w3.org/2001/XMLSchema" xmlns:xs="http://www.w3.org/2001/XMLSchema" xmlns:p="http://schemas.microsoft.com/office/2006/metadata/properties" xmlns:ns2="1853fc0a-4fe5-41ff-8cde-ac60c4e4b037" xmlns:ns3="07167114-5342-4025-84a9-c06f0274c9e9" targetNamespace="http://schemas.microsoft.com/office/2006/metadata/properties" ma:root="true" ma:fieldsID="c90fd32653b8186abc9ac83f774fe671" ns2:_="" ns3:_="">
    <xsd:import namespace="1853fc0a-4fe5-41ff-8cde-ac60c4e4b037"/>
    <xsd:import namespace="07167114-5342-4025-84a9-c06f0274c9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53fc0a-4fe5-41ff-8cde-ac60c4e4b0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167114-5342-4025-84a9-c06f0274c9e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FB2AB0-C9C7-4BF1-8772-5DB81762FD8B}">
  <ds:schemaRefs>
    <ds:schemaRef ds:uri="http://schemas.microsoft.com/office/infopath/2007/PartnerControls"/>
    <ds:schemaRef ds:uri="07167114-5342-4025-84a9-c06f0274c9e9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1853fc0a-4fe5-41ff-8cde-ac60c4e4b037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E1A8060-9544-4246-BCAC-9AB74824EB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53fc0a-4fe5-41ff-8cde-ac60c4e4b037"/>
    <ds:schemaRef ds:uri="07167114-5342-4025-84a9-c06f0274c9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532A13-C323-40B4-97DF-F51AD858E6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592</Words>
  <Application>Microsoft Office PowerPoint</Application>
  <PresentationFormat>Widescreen</PresentationFormat>
  <Paragraphs>83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WordVisi_MSFontService</vt:lpstr>
      <vt:lpstr>1_Office Theme</vt:lpstr>
      <vt:lpstr>ELEC2208: Power Electronics and Motor Drives</vt:lpstr>
      <vt:lpstr>The Test system</vt:lpstr>
      <vt:lpstr>The Test system</vt:lpstr>
      <vt:lpstr>Format</vt:lpstr>
      <vt:lpstr>Expectations</vt:lpstr>
      <vt:lpstr>ELEC2208: Power Electronics and Motor Drives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ELEC2208: Power Electronics and Motor Drives</dc:title>
  <dc:creator>f f</dc:creator>
  <cp:lastModifiedBy>Frederic Gardes</cp:lastModifiedBy>
  <cp:revision>6</cp:revision>
  <dcterms:created xsi:type="dcterms:W3CDTF">2019-05-09T18:17:27Z</dcterms:created>
  <dcterms:modified xsi:type="dcterms:W3CDTF">2023-03-16T13:22:30Z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0x01010040C7AE97A4D43F40AE9F2A438CEE8608</vt:lpwstr>
  </property>
</Properties>
</file>